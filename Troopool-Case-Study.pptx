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914400" y="-914400"/>
            <a:ext cx="8229600" cy="8686800"/>
          </a:xfrm>
          <a:prstGeom prst="rect">
            <a:avLst/>
          </a:prstGeom>
          <a:solidFill>
            <a:srgbClr val="3A2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863840" y="-1463040"/>
            <a:ext cx="5486400" cy="5486400"/>
          </a:xfrm>
          <a:prstGeom prst="ellipse">
            <a:avLst/>
          </a:prstGeom>
          <a:solidFill>
            <a:srgbClr val="5B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777240"/>
            <a:ext cx="457200" cy="457200"/>
          </a:xfrm>
          <a:prstGeom prst="roundRect">
            <a:avLst/>
          </a:prstGeom>
          <a:solidFill>
            <a:srgbClr val="FF6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7315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TROOPOOL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8229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The network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CBF24E"/>
                </a:solidFill>
                <a:latin typeface="Calibri"/>
              </a:rPr>
              <a:t>is the product.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206240"/>
            <a:ext cx="7040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CFCBDD"/>
                </a:solidFill>
                <a:latin typeface="Calibri"/>
              </a:rPr>
              <a:t>A verified networking platform for professionals who happen to commute together. The commute is the reason to meet - meet people on your route, swipe to connect, carpool, build circles. LinkedIn x sRide, not Uber x sRide.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943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BF24E"/>
                </a:solidFill>
                <a:latin typeface="Calibri"/>
              </a:rPr>
              <a:t>Business case study - product (v4) - market &amp; monetization   -   India-first,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2377440"/>
            <a:ext cx="6400800" cy="6400800"/>
          </a:xfrm>
          <a:prstGeom prst="ellipse">
            <a:avLst/>
          </a:prstGeom>
          <a:solidFill>
            <a:srgbClr val="3A2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 i="0">
                <a:solidFill>
                  <a:srgbClr val="FF6A4D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206240"/>
            <a:ext cx="8778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AAA7BC"/>
                </a:solidFill>
                <a:latin typeface="Calibri"/>
              </a:rPr>
              <a:t>Indian commutes are long, costly and lonely - and hybrid work removed the office as the professional/social layer.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6A4D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91A2B"/>
                </a:solidFill>
                <a:latin typeface="Calibri"/>
              </a:rPr>
              <a:t>A double pain: cost and isolation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286000"/>
            <a:ext cx="24917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1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tIns="177800"/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FF6A4D"/>
                </a:solidFill>
                <a:latin typeface="Calibri"/>
              </a:rPr>
              <a:t>Rs 200-300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6D80"/>
                </a:solidFill>
                <a:latin typeface="Calibri"/>
              </a:rPr>
              <a:t>spent per day on cab commutes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23260" y="2286000"/>
            <a:ext cx="24917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1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tIns="177800"/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10A88F"/>
                </a:solidFill>
                <a:latin typeface="Calibri"/>
              </a:rPr>
              <a:t>44%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6D80"/>
                </a:solidFill>
                <a:latin typeface="Calibri"/>
              </a:rPr>
              <a:t>drive private cars - empty seats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2286000"/>
            <a:ext cx="24917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1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tIns="177800"/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5B4BD6"/>
                </a:solidFill>
                <a:latin typeface="Calibri"/>
              </a:rPr>
              <a:t>35%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6D80"/>
                </a:solidFill>
                <a:latin typeface="Calibri"/>
              </a:rPr>
              <a:t>of urban adults chronically lonely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63940" y="2286000"/>
            <a:ext cx="24917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1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tIns="177800"/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10A88F"/>
                </a:solidFill>
                <a:latin typeface="Calibri"/>
              </a:rPr>
              <a:t>+28%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6D80"/>
                </a:solidFill>
                <a:latin typeface="Calibri"/>
              </a:rPr>
              <a:t>YoY friendship-app downloads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5778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1">
                <a:solidFill>
                  <a:srgbClr val="6B6D80"/>
                </a:solidFill>
                <a:latin typeface="Calibri"/>
              </a:rPr>
              <a:t>Sources: Statista 2024, Market Research Future, loneliness-economy reports. [C]/[E]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B6D80"/>
                </a:solidFill>
                <a:latin typeface="Calibri"/>
              </a:rPr>
              <a:t>Troopool - Case Study  -  A double pain: cost and isolation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1908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B6D80"/>
                </a:solidFill>
                <a:latin typeface="Calibri"/>
              </a:rPr>
              <a:t>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6A4D"/>
                </a:solidFill>
                <a:latin typeface="Calibri"/>
              </a:rPr>
              <a:t>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91A2B"/>
                </a:solidFill>
                <a:latin typeface="Calibri"/>
              </a:rPr>
              <a:t>The white space nobody owns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103120"/>
            <a:ext cx="146304" cy="146304"/>
          </a:xfrm>
          <a:prstGeom prst="roundRect">
            <a:avLst/>
          </a:prstGeom>
          <a:solidFill>
            <a:srgbClr val="5B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93392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91A2B"/>
                </a:solidFill>
                <a:latin typeface="Calibri"/>
              </a:rPr>
              <a:t>Carpool apps (sRide, Quick Ride, Scoop)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B6D80"/>
                </a:solidFill>
                <a:latin typeface="Calibri"/>
              </a:rPr>
              <a:t>Utility, no network - you book a seat, then nothing brings you back. (Scoop users met cross-department colleagues - but it never built the network layer.)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44368"/>
            <a:ext cx="146304" cy="146304"/>
          </a:xfrm>
          <a:prstGeom prst="roundRect">
            <a:avLst/>
          </a:prstGeom>
          <a:solidFill>
            <a:srgbClr val="5B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8346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91A2B"/>
                </a:solidFill>
                <a:latin typeface="Calibri"/>
              </a:rPr>
              <a:t>Social apps (Bumble BFF, Meetup, Nextdoor)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B6D80"/>
                </a:solidFill>
                <a:latin typeface="Calibri"/>
              </a:rPr>
              <a:t>Citywide strangers - no commute context, no real-orbit trust.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785615"/>
            <a:ext cx="146304" cy="146304"/>
          </a:xfrm>
          <a:prstGeom prst="roundRect">
            <a:avLst/>
          </a:prstGeom>
          <a:solidFill>
            <a:srgbClr val="5B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675887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91A2B"/>
                </a:solidFill>
                <a:latin typeface="Calibri"/>
              </a:rPr>
              <a:t>Troopool = verified real-orbit + swipe-to-match + B2B distribution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B6D80"/>
                </a:solidFill>
                <a:latin typeface="Calibri"/>
              </a:rPr>
              <a:t>The professional-networking engine no one owns. Carpool is the wedge; the network is the product.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B6D80"/>
                </a:solidFill>
                <a:latin typeface="Calibri"/>
              </a:rPr>
              <a:t>Troopool - Case Study  -  The white space nobody owns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1908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B6D80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2377440"/>
            <a:ext cx="6400800" cy="6400800"/>
          </a:xfrm>
          <a:prstGeom prst="ellipse">
            <a:avLst/>
          </a:prstGeom>
          <a:solidFill>
            <a:srgbClr val="3A2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 i="0">
                <a:solidFill>
                  <a:srgbClr val="FF6A4D"/>
                </a:solidFill>
                <a:latin typeface="Calibr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The reposition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206240"/>
            <a:ext cx="8778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AAA7BC"/>
                </a:solidFill>
                <a:latin typeface="Calibri"/>
              </a:rPr>
              <a:t>Troopool is NOT a carpool app. It is a networking platform for professionals who happen to commute together.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A88F"/>
                </a:solidFill>
                <a:latin typeface="Calibri"/>
              </a:rPr>
              <a:t>THE MODEL - LINKEDIN X SRIDE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91A2B"/>
                </a:solidFill>
                <a:latin typeface="Calibri"/>
              </a:rPr>
              <a:t>The winning loop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103120"/>
            <a:ext cx="146304" cy="146304"/>
          </a:xfrm>
          <a:prstGeom prst="roundRect">
            <a:avLst/>
          </a:prstGeom>
          <a:solidFill>
            <a:srgbClr val="5B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93392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91A2B"/>
                </a:solidFill>
                <a:latin typeface="Calibri"/>
              </a:rPr>
              <a:t>Route match -&gt; Swipe -&gt; Match -&gt; Chat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B6D80"/>
                </a:solidFill>
                <a:latin typeface="Calibri"/>
              </a:rPr>
              <a:t>Meet people in your orbit and connect on a mutual like - the sRide-iOS Meet People mechanic.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44368"/>
            <a:ext cx="146304" cy="146304"/>
          </a:xfrm>
          <a:prstGeom prst="roundRect">
            <a:avLst/>
          </a:prstGeom>
          <a:solidFill>
            <a:srgbClr val="5B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8346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91A2B"/>
                </a:solidFill>
                <a:latin typeface="Calibri"/>
              </a:rPr>
              <a:t>Carpool -&gt; Friendship -&gt; Circle -&gt; Community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B6D80"/>
                </a:solidFill>
                <a:latin typeface="Calibri"/>
              </a:rPr>
              <a:t>The commute creates the first interaction; networking creates retention; community creates daily engagement.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785615"/>
            <a:ext cx="146304" cy="146304"/>
          </a:xfrm>
          <a:prstGeom prst="roundRect">
            <a:avLst/>
          </a:prstGeom>
          <a:solidFill>
            <a:srgbClr val="5B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675887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91A2B"/>
                </a:solidFill>
                <a:latin typeface="Calibri"/>
              </a:rPr>
              <a:t>First screen is People in your orbit - never Find a ride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B6D80"/>
                </a:solidFill>
                <a:latin typeface="Calibri"/>
              </a:rPr>
              <a:t>Carpool is the daily habit. The network is the point.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B6D80"/>
                </a:solidFill>
                <a:latin typeface="Calibri"/>
              </a:rPr>
              <a:t>Troopool - Case Study  -  The winning loop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1908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B6D80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6A4D"/>
                </a:solidFill>
                <a:latin typeface="Calibri"/>
              </a:rPr>
              <a:t>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91A2B"/>
                </a:solidFill>
                <a:latin typeface="Calibri"/>
              </a:rPr>
              <a:t>How it works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103120"/>
            <a:ext cx="146304" cy="146304"/>
          </a:xfrm>
          <a:prstGeom prst="roundRect">
            <a:avLst/>
          </a:prstGeom>
          <a:solidFill>
            <a:srgbClr val="5B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93392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91A2B"/>
                </a:solidFill>
                <a:latin typeface="Calibri"/>
              </a:rPr>
              <a:t>1 - Build your Trust Score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B6D80"/>
                </a:solidFill>
                <a:latin typeface="Calibri"/>
              </a:rPr>
              <a:t>Phone + work email required; DigiLocker / selfie optional, each raising a visible 0-100 score. No LinkedIn.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44368"/>
            <a:ext cx="146304" cy="146304"/>
          </a:xfrm>
          <a:prstGeom prst="roundRect">
            <a:avLst/>
          </a:prstGeom>
          <a:solidFill>
            <a:srgbClr val="5B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8346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91A2B"/>
                </a:solidFill>
                <a:latin typeface="Calibri"/>
              </a:rPr>
              <a:t>2 - Network - swipe to connect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B6D80"/>
                </a:solidFill>
                <a:latin typeface="Calibri"/>
              </a:rPr>
              <a:t>Tinder-style deck of people on your route / nearby / interests. Pass or connect; mutual -&gt; match -&gt; chat.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785615"/>
            <a:ext cx="146304" cy="146304"/>
          </a:xfrm>
          <a:prstGeom prst="roundRect">
            <a:avLst/>
          </a:prstGeom>
          <a:solidFill>
            <a:srgbClr val="5B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675887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91A2B"/>
                </a:solidFill>
                <a:latin typeface="Calibri"/>
              </a:rPr>
              <a:t>3 - Do something real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B6D80"/>
                </a:solidFill>
                <a:latin typeface="Calibri"/>
              </a:rPr>
              <a:t>Chat chips: Coffee, Carpool, Walk, Event, Circle. Carpool a match -&gt; host accepts -&gt; ride group chat.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626864"/>
            <a:ext cx="146304" cy="146304"/>
          </a:xfrm>
          <a:prstGeom prst="roundRect">
            <a:avLst/>
          </a:prstGeom>
          <a:solidFill>
            <a:srgbClr val="5B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517136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91A2B"/>
                </a:solidFill>
                <a:latin typeface="Calibri"/>
              </a:rPr>
              <a:t>4 - Community &amp; daily engagement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B6D80"/>
                </a:solidFill>
                <a:latin typeface="Calibri"/>
              </a:rPr>
              <a:t>Pro circles with events &amp; polls; Home dashboard + smart notifications; people-you-may-know after 3 connects.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B6D80"/>
                </a:solidFill>
                <a:latin typeface="Calibri"/>
              </a:rPr>
              <a:t>Troopool - Case Study  -  How it works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1908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B6D80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2377440"/>
            <a:ext cx="6400800" cy="6400800"/>
          </a:xfrm>
          <a:prstGeom prst="ellipse">
            <a:avLst/>
          </a:prstGeom>
          <a:solidFill>
            <a:srgbClr val="3A2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 i="0">
                <a:solidFill>
                  <a:srgbClr val="FF6A4D"/>
                </a:solidFill>
                <a:latin typeface="Calibr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Goal &amp; 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206240"/>
            <a:ext cx="8778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AAA7BC"/>
                </a:solidFill>
                <a:latin typeface="Calibri"/>
              </a:rPr>
              <a:t>Save money and build a real professional network on the daily commute - for employees and the companies that employ them.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6A4D"/>
                </a:solidFill>
                <a:latin typeface="Calibri"/>
              </a:rPr>
              <a:t>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91A2B"/>
                </a:solidFill>
                <a:latin typeface="Calibri"/>
              </a:rPr>
              <a:t>Goal &amp; success metric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103120"/>
            <a:ext cx="146304" cy="146304"/>
          </a:xfrm>
          <a:prstGeom prst="roundRect">
            <a:avLst/>
          </a:prstGeom>
          <a:solidFill>
            <a:srgbClr val="5B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93392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91A2B"/>
                </a:solidFill>
                <a:latin typeface="Calibri"/>
              </a:rPr>
              <a:t>Goal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B6D80"/>
                </a:solidFill>
                <a:latin typeface="Calibri"/>
              </a:rPr>
              <a:t>Turn the daily commute into a professional network - meet, carpool, join circles. For companies: engagement, retention, parking relief and BRSR Scope-3 reporting.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44368"/>
            <a:ext cx="146304" cy="146304"/>
          </a:xfrm>
          <a:prstGeom prst="roundRect">
            <a:avLst/>
          </a:prstGeom>
          <a:solidFill>
            <a:srgbClr val="5B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8346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91A2B"/>
                </a:solidFill>
                <a:latin typeface="Calibri"/>
              </a:rPr>
              <a:t>Success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B6D80"/>
                </a:solidFill>
                <a:latin typeface="Calibri"/>
              </a:rPr>
              <a:t>A verified professional who, within 2 weeks, has made real connections (matches), carpooled once, and joined a circle - and keeps opening the app daily.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B6D80"/>
                </a:solidFill>
                <a:latin typeface="Calibri"/>
              </a:rPr>
              <a:t>Troopool - Case Study  -  Goal &amp; success metric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1908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B6D80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6A4D"/>
                </a:solidFill>
                <a:latin typeface="Calibri"/>
              </a:rPr>
              <a:t>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91A2B"/>
                </a:solidFill>
                <a:latin typeface="Calibri"/>
              </a:rPr>
              <a:t>Primary market &amp; personas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103120"/>
            <a:ext cx="539496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1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2103120"/>
            <a:ext cx="5394960" cy="640080"/>
          </a:xfrm>
          <a:prstGeom prst="roundRect">
            <a:avLst/>
          </a:prstGeom>
          <a:solidFill>
            <a:srgbClr val="5B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/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Primary market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49377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0" i="0">
                <a:solidFill>
                  <a:srgbClr val="191A2B"/>
                </a:solidFill>
                <a:latin typeface="Calibri"/>
              </a:rPr>
              <a:t>-  Verified corporate professionals, Indian IT corridors</a:t>
            </a:r>
          </a:p>
          <a:p>
            <a:pPr algn="l">
              <a:spcAft>
                <a:spcPts val="800"/>
              </a:spcAft>
            </a:pPr>
            <a:r>
              <a:rPr sz="1250" b="0" i="0">
                <a:solidFill>
                  <a:srgbClr val="191A2B"/>
                </a:solidFill>
                <a:latin typeface="Calibri"/>
              </a:rPr>
              <a:t>-  25-40 - Infosys / TCS / Wipro / Cognizant campuses</a:t>
            </a:r>
          </a:p>
          <a:p>
            <a:pPr algn="l">
              <a:spcAft>
                <a:spcPts val="800"/>
              </a:spcAft>
            </a:pPr>
            <a:r>
              <a:rPr sz="1250" b="0" i="0">
                <a:solidFill>
                  <a:srgbClr val="191A2B"/>
                </a:solidFill>
                <a:latin typeface="Calibri"/>
              </a:rPr>
              <a:t>-  Pune, Bengaluru, Hyderabad, Mumbai, Delhi-NCR</a:t>
            </a:r>
          </a:p>
          <a:p>
            <a:pPr algn="l">
              <a:spcAft>
                <a:spcPts val="800"/>
              </a:spcAft>
            </a:pPr>
            <a:r>
              <a:rPr sz="1250" b="0" i="0">
                <a:solidFill>
                  <a:srgbClr val="191A2B"/>
                </a:solidFill>
                <a:latin typeface="Calibri"/>
              </a:rPr>
              <a:t>-  Dense corridors + employer rollout = solves cold-start</a:t>
            </a:r>
          </a:p>
          <a:p>
            <a:pPr algn="l">
              <a:spcAft>
                <a:spcPts val="800"/>
              </a:spcAft>
            </a:pPr>
            <a:r>
              <a:rPr sz="1250" b="0" i="0">
                <a:solidFill>
                  <a:srgbClr val="191A2B"/>
                </a:solidFill>
                <a:latin typeface="Calibri"/>
              </a:rPr>
              <a:t>-  B2B buyer: HR / facilities / sustainability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2103120"/>
            <a:ext cx="539496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1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63640" y="2103120"/>
            <a:ext cx="5394960" cy="640080"/>
          </a:xfrm>
          <a:prstGeom prst="roundRect">
            <a:avLst/>
          </a:prstGeom>
          <a:solidFill>
            <a:srgbClr val="10A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/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Personas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926080"/>
            <a:ext cx="49377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0" i="0">
                <a:solidFill>
                  <a:srgbClr val="191A2B"/>
                </a:solidFill>
                <a:latin typeface="Calibri"/>
              </a:rPr>
              <a:t>-  Aisha, 26 - new to city: meet people fast + save</a:t>
            </a:r>
          </a:p>
          <a:p>
            <a:pPr algn="l">
              <a:spcAft>
                <a:spcPts val="800"/>
              </a:spcAft>
            </a:pPr>
            <a:r>
              <a:rPr sz="1250" b="0" i="0">
                <a:solidFill>
                  <a:srgbClr val="191A2B"/>
                </a:solidFill>
                <a:latin typeface="Calibri"/>
              </a:rPr>
              <a:t>-  Rahul, 31 - hybrid: fuel savings + wider network</a:t>
            </a:r>
          </a:p>
          <a:p>
            <a:pPr algn="l">
              <a:spcAft>
                <a:spcPts val="800"/>
              </a:spcAft>
            </a:pPr>
            <a:r>
              <a:rPr sz="1250" b="0" i="0">
                <a:solidFill>
                  <a:srgbClr val="191A2B"/>
                </a:solidFill>
                <a:latin typeface="Calibri"/>
              </a:rPr>
              <a:t>-  Ankit, 29 - wants founders &amp; AI peers (circles)</a:t>
            </a:r>
          </a:p>
          <a:p>
            <a:pPr algn="l">
              <a:spcAft>
                <a:spcPts val="800"/>
              </a:spcAft>
            </a:pPr>
            <a:r>
              <a:rPr sz="1250" b="0" i="0">
                <a:solidFill>
                  <a:srgbClr val="191A2B"/>
                </a:solidFill>
                <a:latin typeface="Calibri"/>
              </a:rPr>
              <a:t>-  Priya, 34 - safety-first: high-trust matches</a:t>
            </a:r>
          </a:p>
          <a:p>
            <a:pPr algn="l">
              <a:spcAft>
                <a:spcPts val="800"/>
              </a:spcAft>
            </a:pPr>
            <a:r>
              <a:rPr sz="1250" b="0" i="0">
                <a:solidFill>
                  <a:srgbClr val="191A2B"/>
                </a:solidFill>
                <a:latin typeface="Calibri"/>
              </a:rPr>
              <a:t>-  Sahil - HR/ESG: engagement + ESG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B6D80"/>
                </a:solidFill>
                <a:latin typeface="Calibri"/>
              </a:rPr>
              <a:t>Troopool - Case Study  -  Primary market &amp; personas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1908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B6D80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6A4D"/>
                </a:solidFill>
                <a:latin typeface="Calibri"/>
              </a:rPr>
              <a:t>MARKET ANALYTICS - INDIA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91A2B"/>
                </a:solidFill>
                <a:latin typeface="Calibri"/>
              </a:rPr>
              <a:t>Market size &amp; growth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286000"/>
            <a:ext cx="24917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1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tIns="177800"/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10A88F"/>
                </a:solidFill>
                <a:latin typeface="Calibri"/>
              </a:rPr>
              <a:t>Rs 88.3M+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6D80"/>
                </a:solidFill>
                <a:latin typeface="Calibri"/>
              </a:rPr>
              <a:t>India carpooling 2024 - 7.8% CAGR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23260" y="2286000"/>
            <a:ext cx="24917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1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tIns="177800"/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5B4BD6"/>
                </a:solidFill>
                <a:latin typeface="Calibri"/>
              </a:rPr>
              <a:t>Rs 282M-1.32B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6D80"/>
                </a:solidFill>
                <a:latin typeface="Calibri"/>
              </a:rPr>
              <a:t>India friendship/dating by 2035 - 15% CAGR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2286000"/>
            <a:ext cx="24917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1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tIns="177800"/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FF6A4D"/>
                </a:solidFill>
                <a:latin typeface="Calibri"/>
              </a:rPr>
              <a:t>~Rs 280-370B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6D80"/>
                </a:solidFill>
                <a:latin typeface="Calibri"/>
              </a:rPr>
              <a:t>carpool TAM (urban India, annual)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63940" y="2286000"/>
            <a:ext cx="24917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1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tIns="177800"/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10A88F"/>
                </a:solidFill>
                <a:latin typeface="Calibri"/>
              </a:rPr>
              <a:t>Rs 420-500M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6D80"/>
                </a:solidFill>
                <a:latin typeface="Calibri"/>
              </a:rPr>
              <a:t>realistic Year-1 SOM via B2B anchor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5778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1">
                <a:solidFill>
                  <a:srgbClr val="6B6D80"/>
                </a:solidFill>
                <a:latin typeface="Calibri"/>
              </a:rPr>
              <a:t>TAM/SAM/SOM from BUSINESS-ANALYSIS.md. [C] market figures, [E] SOM model.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B6D80"/>
                </a:solidFill>
                <a:latin typeface="Calibri"/>
              </a:rPr>
              <a:t>Troopool - Case Study  -  Market size &amp; growth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1908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B6D80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6A4D"/>
                </a:solidFill>
                <a:latin typeface="Calibri"/>
              </a:rPr>
              <a:t>COMPETITION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91A2B"/>
                </a:solidFill>
                <a:latin typeface="Calibri"/>
              </a:rPr>
              <a:t>Competitive landscape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828800"/>
          <a:ext cx="111556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468880"/>
                <a:gridCol w="2560320"/>
                <a:gridCol w="4114800"/>
              </a:tblGrid>
              <a:tr h="4267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Player</a:t>
                      </a:r>
                    </a:p>
                  </a:txBody>
                  <a:tcPr anchor="ctr">
                    <a:solidFill>
                      <a:srgbClr val="5B4B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Scale</a:t>
                      </a:r>
                    </a:p>
                  </a:txBody>
                  <a:tcPr anchor="ctr">
                    <a:solidFill>
                      <a:srgbClr val="5B4B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anchor="ctr">
                    <a:solidFill>
                      <a:srgbClr val="5B4B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Gap Troopool fills</a:t>
                      </a:r>
                    </a:p>
                  </a:txBody>
                  <a:tcPr anchor="ctr">
                    <a:solidFill>
                      <a:srgbClr val="5B4BD6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91A2B"/>
                          </a:solidFill>
                          <a:latin typeface="Calibri"/>
                        </a:rPr>
                        <a:t>sRide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6B6D80"/>
                          </a:solidFill>
                          <a:latin typeface="Calibri"/>
                        </a:rPr>
                        <a:t>3M+ - 400+ corps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6B6D80"/>
                          </a:solidFill>
                          <a:latin typeface="Calibri"/>
                        </a:rPr>
                        <a:t>subscription + B2B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6B6D80"/>
                          </a:solidFill>
                          <a:latin typeface="Calibri"/>
                        </a:rPr>
                        <a:t>No network / community layer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91A2B"/>
                          </a:solidFill>
                          <a:latin typeface="Calibri"/>
                        </a:rPr>
                        <a:t>Quick Ride</a:t>
                      </a:r>
                    </a:p>
                  </a:txBody>
                  <a:tcPr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6B6D80"/>
                          </a:solidFill>
                          <a:latin typeface="Calibri"/>
                        </a:rPr>
                        <a:t>$15.8M raised</a:t>
                      </a:r>
                    </a:p>
                  </a:txBody>
                  <a:tcPr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6B6D80"/>
                          </a:solidFill>
                          <a:latin typeface="Calibri"/>
                        </a:rPr>
                        <a:t>commission</a:t>
                      </a:r>
                    </a:p>
                  </a:txBody>
                  <a:tcPr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6B6D80"/>
                          </a:solidFill>
                          <a:latin typeface="Calibri"/>
                        </a:rPr>
                        <a:t>No network layer</a:t>
                      </a:r>
                    </a:p>
                  </a:txBody>
                  <a:tcPr anchor="ctr">
                    <a:solidFill>
                      <a:srgbClr val="F6F3EC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91A2B"/>
                          </a:solidFill>
                          <a:latin typeface="Calibri"/>
                        </a:rPr>
                        <a:t>Scoop (US)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6B6D80"/>
                          </a:solidFill>
                          <a:latin typeface="Calibri"/>
                        </a:rPr>
                        <a:t>acq. 2024 (Spacer)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6B6D80"/>
                          </a:solidFill>
                          <a:latin typeface="Calibri"/>
                        </a:rPr>
                        <a:t>employer-paid TDM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6B6D80"/>
                          </a:solidFill>
                          <a:latin typeface="Calibri"/>
                        </a:rPr>
                        <a:t>Single-mode; no community; folded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91A2B"/>
                          </a:solidFill>
                          <a:latin typeface="Calibri"/>
                        </a:rPr>
                        <a:t>BlaBlaCar</a:t>
                      </a:r>
                    </a:p>
                  </a:txBody>
                  <a:tcPr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6B6D80"/>
                          </a:solidFill>
                          <a:latin typeface="Calibri"/>
                        </a:rPr>
                        <a:t>EUR 253M - 92M pax</a:t>
                      </a:r>
                    </a:p>
                  </a:txBody>
                  <a:tcPr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6B6D80"/>
                          </a:solidFill>
                          <a:latin typeface="Calibri"/>
                        </a:rPr>
                        <a:t>10-12% commission</a:t>
                      </a:r>
                    </a:p>
                  </a:txBody>
                  <a:tcPr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6B6D80"/>
                          </a:solidFill>
                          <a:latin typeface="Calibri"/>
                        </a:rPr>
                        <a:t>Long-distance DNA</a:t>
                      </a:r>
                    </a:p>
                  </a:txBody>
                  <a:tcPr anchor="ctr">
                    <a:solidFill>
                      <a:srgbClr val="F6F3EC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91A2B"/>
                          </a:solidFill>
                          <a:latin typeface="Calibri"/>
                        </a:rPr>
                        <a:t>Bumble BFF / Meetup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6B6D80"/>
                          </a:solidFill>
                          <a:latin typeface="Calibri"/>
                        </a:rPr>
                        <a:t>200M / 60M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6B6D80"/>
                          </a:solidFill>
                          <a:latin typeface="Calibri"/>
                        </a:rPr>
                        <a:t>subscription / events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6B6D80"/>
                          </a:solidFill>
                          <a:latin typeface="Calibri"/>
                        </a:rPr>
                        <a:t>No commute - low India ARPU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B6D80"/>
                </a:solidFill>
                <a:latin typeface="Calibri"/>
              </a:rPr>
              <a:t>Troopool - Case Study  -  Competitive landscape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1908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B6D80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A88F"/>
                </a:solidFill>
                <a:latin typeface="Calibri"/>
              </a:rPr>
              <a:t>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91A2B"/>
                </a:solidFill>
                <a:latin typeface="Calibri"/>
              </a:rPr>
              <a:t>Positioning - a quadrant no one owns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103120"/>
            <a:ext cx="146304" cy="146304"/>
          </a:xfrm>
          <a:prstGeom prst="roundRect">
            <a:avLst/>
          </a:prstGeom>
          <a:solidFill>
            <a:srgbClr val="5B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93392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91A2B"/>
                </a:solidFill>
                <a:latin typeface="Calibri"/>
              </a:rPr>
              <a:t>High network value x verified marketplace x B2B distribution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B6D80"/>
                </a:solidFill>
                <a:latin typeface="Calibri"/>
              </a:rPr>
              <a:t>sRide/Quick Ride/Scoop = transport utility, low social. Bumble/Meetup = social, no commute or India monetization.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44368"/>
            <a:ext cx="146304" cy="146304"/>
          </a:xfrm>
          <a:prstGeom prst="roundRect">
            <a:avLst/>
          </a:prstGeom>
          <a:solidFill>
            <a:srgbClr val="5B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8346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91A2B"/>
                </a:solidFill>
                <a:latin typeface="Calibri"/>
              </a:rPr>
              <a:t>Troopool = the upper-right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B6D80"/>
                </a:solidFill>
                <a:latin typeface="Calibri"/>
              </a:rPr>
              <a:t>Professional networking on a verified daily orbit, distributed through corporates - defensible by real-orbit trust and repeated proximity.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B6D80"/>
                </a:solidFill>
                <a:latin typeface="Calibri"/>
              </a:rPr>
              <a:t>Troopool - Case Study  -  Positioning - a quadrant no one owns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1908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B6D80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2377440"/>
            <a:ext cx="6400800" cy="6400800"/>
          </a:xfrm>
          <a:prstGeom prst="ellipse">
            <a:avLst/>
          </a:prstGeom>
          <a:solidFill>
            <a:srgbClr val="3A2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 i="0">
                <a:solidFill>
                  <a:srgbClr val="FF6A4D"/>
                </a:solidFill>
                <a:latin typeface="Calibr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Business &amp; monetization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206240"/>
            <a:ext cx="8778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AAA7BC"/>
                </a:solidFill>
                <a:latin typeface="Calibri"/>
              </a:rPr>
              <a:t>Carpool is the wedge; B2B SaaS + ride commission are the money. No consumer paywall.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6A4D"/>
                </a:solidFill>
                <a:latin typeface="Calibri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91A2B"/>
                </a:solidFill>
                <a:latin typeface="Calibri"/>
              </a:rPr>
              <a:t>How it makes money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103120"/>
            <a:ext cx="146304" cy="146304"/>
          </a:xfrm>
          <a:prstGeom prst="roundRect">
            <a:avLst/>
          </a:prstGeom>
          <a:solidFill>
            <a:srgbClr val="5B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93392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91A2B"/>
                </a:solidFill>
                <a:latin typeface="Calibri"/>
              </a:rPr>
              <a:t>1 - Consumer ride commission - 6-8% on the cost-share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B6D80"/>
                </a:solidFill>
                <a:latin typeface="Calibri"/>
              </a:rPr>
              <a:t>Rs 5-10 on a Rs 70-100 carpool. Cost-sharing-compliant, far below Uber's 25-30%.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44368"/>
            <a:ext cx="146304" cy="146304"/>
          </a:xfrm>
          <a:prstGeom prst="roundRect">
            <a:avLst/>
          </a:prstGeom>
          <a:solidFill>
            <a:srgbClr val="5B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8346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91A2B"/>
                </a:solidFill>
                <a:latin typeface="Calibri"/>
              </a:rPr>
              <a:t>2 - B2B SaaS (flagship) - Rs 30-50 / employee / month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B6D80"/>
                </a:solidFill>
                <a:latin typeface="Calibri"/>
              </a:rPr>
              <a:t>Networking + ride matching + HR portal + BRSR Scope-3 carbon &amp; engagement dashboard. 70-80% gross margin.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785615"/>
            <a:ext cx="146304" cy="146304"/>
          </a:xfrm>
          <a:prstGeom prst="roundRect">
            <a:avLst/>
          </a:prstGeom>
          <a:solidFill>
            <a:srgbClr val="5B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675887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91A2B"/>
                </a:solidFill>
                <a:latin typeface="Calibri"/>
              </a:rPr>
              <a:t>3 - Community experiences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B6D80"/>
                </a:solidFill>
                <a:latin typeface="Calibri"/>
              </a:rPr>
              <a:t>Ticketed circle events &amp; partner perks. No consumer subscription - the network stays free to grow.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B6D80"/>
                </a:solidFill>
                <a:latin typeface="Calibri"/>
              </a:rPr>
              <a:t>Troopool - Case Study  -  How it makes 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1908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B6D8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6A4D"/>
                </a:solidFill>
                <a:latin typeface="Calibri"/>
              </a:rPr>
              <a:t>B2B - ESG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91A2B"/>
                </a:solidFill>
                <a:latin typeface="Calibri"/>
              </a:rPr>
              <a:t>The B2B / ESG engine - why companies pay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286000"/>
            <a:ext cx="24917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1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tIns="177800"/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10A88F"/>
                </a:solidFill>
                <a:latin typeface="Calibri"/>
              </a:rPr>
              <a:t>Scope-3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6D80"/>
                </a:solidFill>
                <a:latin typeface="Calibri"/>
              </a:rPr>
              <a:t>BRSR commuting disclosure - top-1,000 listed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23260" y="2286000"/>
            <a:ext cx="24917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1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tIns="177800"/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FF6A4D"/>
                </a:solidFill>
                <a:latin typeface="Calibri"/>
              </a:rPr>
              <a:t>~22%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6D80"/>
                </a:solidFill>
                <a:latin typeface="Calibri"/>
              </a:rPr>
              <a:t>corporate transport cost cut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2286000"/>
            <a:ext cx="24917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1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tIns="177800"/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5B4BD6"/>
                </a:solidFill>
                <a:latin typeface="Calibri"/>
              </a:rPr>
              <a:t>8.4/10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6D80"/>
                </a:solidFill>
                <a:latin typeface="Calibri"/>
              </a:rPr>
              <a:t>employee engagement score (in-app)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63940" y="2286000"/>
            <a:ext cx="24917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1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tIns="177800"/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10A88F"/>
                </a:solidFill>
                <a:latin typeface="Calibri"/>
              </a:rPr>
              <a:t>~70%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6D80"/>
                </a:solidFill>
                <a:latin typeface="Calibri"/>
              </a:rPr>
              <a:t>retention uplift (Zeelo)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5778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1">
                <a:solidFill>
                  <a:srgbClr val="6B6D80"/>
                </a:solidFill>
                <a:latin typeface="Calibri"/>
              </a:rPr>
              <a:t>Sources: SEBI BRSR, Zeelo, GHG Protocol Ch.7. [C]/[E]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B6D80"/>
                </a:solidFill>
                <a:latin typeface="Calibri"/>
              </a:rPr>
              <a:t>Troopool - Case Study  -  The B2B / ESG engine - why companies pay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1908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B6D8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2377440"/>
            <a:ext cx="6400800" cy="6400800"/>
          </a:xfrm>
          <a:prstGeom prst="ellipse">
            <a:avLst/>
          </a:prstGeom>
          <a:solidFill>
            <a:srgbClr val="3A2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 i="0">
                <a:solidFill>
                  <a:srgbClr val="FF6A4D"/>
                </a:solidFill>
                <a:latin typeface="Calibr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Product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206240"/>
            <a:ext cx="8778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AAA7BC"/>
                </a:solidFill>
                <a:latin typeface="Calibri"/>
              </a:rPr>
              <a:t>Start to finish on the live prototype (troopool-v4.html) - people first, swipe to connect.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B4BD6"/>
                </a:solidFill>
                <a:latin typeface="Calibri"/>
              </a:rPr>
              <a:t>WALKTHROUGH - 1 OF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91A2B"/>
                </a:solidFill>
                <a:latin typeface="Calibri"/>
              </a:rPr>
              <a:t>Onboard &amp; build trust</a:t>
            </a:r>
          </a:p>
        </p:txBody>
      </p:sp>
      <p:pic>
        <p:nvPicPr>
          <p:cNvPr id="5" name="Picture 4" descr="v4_welc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4732" y="1481328"/>
            <a:ext cx="1922515" cy="4160520"/>
          </a:xfrm>
          <a:prstGeom prst="rect">
            <a:avLst/>
          </a:prstGeom>
        </p:spPr>
      </p:pic>
      <p:pic>
        <p:nvPicPr>
          <p:cNvPr id="6" name="Picture 5" descr="v4_tru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447" y="1481328"/>
            <a:ext cx="1922515" cy="4160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70412" y="5715000"/>
            <a:ext cx="24711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191A2B"/>
                </a:solidFill>
                <a:latin typeface="Calibri"/>
              </a:rPr>
              <a:t>Welcome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6D80"/>
                </a:solidFill>
                <a:latin typeface="Calibri"/>
              </a:rPr>
              <a:t>Meet professionals already in your daily orbit.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50127" y="5715000"/>
            <a:ext cx="24711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191A2B"/>
                </a:solidFill>
                <a:latin typeface="Calibri"/>
              </a:rPr>
              <a:t>Build your Trust Score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6D80"/>
                </a:solidFill>
                <a:latin typeface="Calibri"/>
              </a:rPr>
              <a:t>Phone + email required; DigiLocker / selfie raise a 0-100 score.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B6D80"/>
                </a:solidFill>
                <a:latin typeface="Calibri"/>
              </a:rPr>
              <a:t>Troopool - Case Study  -  Onboard &amp; build trust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1908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B6D8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B4BD6"/>
                </a:solidFill>
                <a:latin typeface="Calibri"/>
              </a:rPr>
              <a:t>WALKTHROUGH - 2 OF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91A2B"/>
                </a:solidFill>
                <a:latin typeface="Calibri"/>
              </a:rPr>
              <a:t>Connect by swiping (sRide-style)</a:t>
            </a:r>
          </a:p>
        </p:txBody>
      </p:sp>
      <p:pic>
        <p:nvPicPr>
          <p:cNvPr id="5" name="Picture 4" descr="v4_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4732" y="1481328"/>
            <a:ext cx="1922515" cy="4160520"/>
          </a:xfrm>
          <a:prstGeom prst="rect">
            <a:avLst/>
          </a:prstGeom>
        </p:spPr>
      </p:pic>
      <p:pic>
        <p:nvPicPr>
          <p:cNvPr id="6" name="Picture 5" descr="v4_ma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447" y="1481328"/>
            <a:ext cx="1922515" cy="4160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70412" y="5715000"/>
            <a:ext cx="24711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191A2B"/>
                </a:solidFill>
                <a:latin typeface="Calibri"/>
              </a:rPr>
              <a:t>Network - people, not rides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6D80"/>
                </a:solidFill>
                <a:latin typeface="Calibri"/>
              </a:rPr>
              <a:t>Swipe pass / connect through your orbit.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50127" y="5715000"/>
            <a:ext cx="24711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191A2B"/>
                </a:solidFill>
                <a:latin typeface="Calibri"/>
              </a:rPr>
              <a:t>It's a match!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6D80"/>
                </a:solidFill>
                <a:latin typeface="Calibri"/>
              </a:rPr>
              <a:t>A mutual like opens a chat - no connect-request.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B6D80"/>
                </a:solidFill>
                <a:latin typeface="Calibri"/>
              </a:rPr>
              <a:t>Troopool - Case Study  -  Connect by swiping (sRide-style)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1908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B6D8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B4BD6"/>
                </a:solidFill>
                <a:latin typeface="Calibri"/>
              </a:rPr>
              <a:t>WALKTHROUGH - 3 OF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91A2B"/>
                </a:solidFill>
                <a:latin typeface="Calibri"/>
              </a:rPr>
              <a:t>Carpool - the reason to meet</a:t>
            </a:r>
          </a:p>
        </p:txBody>
      </p:sp>
      <p:pic>
        <p:nvPicPr>
          <p:cNvPr id="5" name="Picture 4" descr="v4_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4732" y="1481328"/>
            <a:ext cx="1922515" cy="4160520"/>
          </a:xfrm>
          <a:prstGeom prst="rect">
            <a:avLst/>
          </a:prstGeom>
        </p:spPr>
      </p:pic>
      <p:pic>
        <p:nvPicPr>
          <p:cNvPr id="6" name="Picture 5" descr="v4_pool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447" y="1481328"/>
            <a:ext cx="1922515" cy="4160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70412" y="5715000"/>
            <a:ext cx="24711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191A2B"/>
                </a:solidFill>
                <a:latin typeface="Calibri"/>
              </a:rPr>
              <a:t>Carpool a match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6D80"/>
                </a:solidFill>
                <a:latin typeface="Calibri"/>
              </a:rPr>
              <a:t>Request -&gt; host accepts -&gt; confirmed pool, scoped to the chat.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50127" y="5715000"/>
            <a:ext cx="24711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191A2B"/>
                </a:solidFill>
                <a:latin typeface="Calibri"/>
              </a:rPr>
              <a:t>Ride group chat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6D80"/>
                </a:solidFill>
                <a:latin typeface="Calibri"/>
              </a:rPr>
              <a:t>Driver + all co-passengers connect - networking, not just a ride.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B6D80"/>
                </a:solidFill>
                <a:latin typeface="Calibri"/>
              </a:rPr>
              <a:t>Troopool - Case Study  -  Carpool - the reason to meet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1908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B6D8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B4BD6"/>
                </a:solidFill>
                <a:latin typeface="Calibri"/>
              </a:rPr>
              <a:t>WALKTHROUGH - 4 OF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91A2B"/>
                </a:solidFill>
                <a:latin typeface="Calibri"/>
              </a:rPr>
              <a:t>Daily engagement</a:t>
            </a:r>
          </a:p>
        </p:txBody>
      </p:sp>
      <p:pic>
        <p:nvPicPr>
          <p:cNvPr id="5" name="Picture 4" descr="v4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4732" y="1481328"/>
            <a:ext cx="1922515" cy="4160520"/>
          </a:xfrm>
          <a:prstGeom prst="rect">
            <a:avLst/>
          </a:prstGeom>
        </p:spPr>
      </p:pic>
      <p:pic>
        <p:nvPicPr>
          <p:cNvPr id="6" name="Picture 5" descr="v4_notif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447" y="1481328"/>
            <a:ext cx="1922515" cy="4160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70412" y="5715000"/>
            <a:ext cx="24711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191A2B"/>
                </a:solidFill>
                <a:latin typeface="Calibri"/>
              </a:rPr>
              <a:t>Home dashboard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6D80"/>
                </a:solidFill>
                <a:latin typeface="Calibri"/>
              </a:rPr>
              <a:t>Today's commute, new matches, circle updates, coffee requests.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50127" y="5715000"/>
            <a:ext cx="24711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191A2B"/>
                </a:solidFill>
                <a:latin typeface="Calibri"/>
              </a:rPr>
              <a:t>Smart notifications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6D80"/>
                </a:solidFill>
                <a:latin typeface="Calibri"/>
              </a:rPr>
              <a:t>Morning, match, ride, event - categorized, never spam.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B6D80"/>
                </a:solidFill>
                <a:latin typeface="Calibri"/>
              </a:rPr>
              <a:t>Troopool - Case Study  -  Daily engagement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1908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B6D8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B4BD6"/>
                </a:solidFill>
                <a:latin typeface="Calibri"/>
              </a:rPr>
              <a:t>WALKTHROUGH - 5 OF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91A2B"/>
                </a:solidFill>
                <a:latin typeface="Calibri"/>
              </a:rPr>
              <a:t>Community</a:t>
            </a:r>
          </a:p>
        </p:txBody>
      </p:sp>
      <p:pic>
        <p:nvPicPr>
          <p:cNvPr id="5" name="Picture 4" descr="v4_commun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4732" y="1481328"/>
            <a:ext cx="1922515" cy="4160520"/>
          </a:xfrm>
          <a:prstGeom prst="rect">
            <a:avLst/>
          </a:prstGeom>
        </p:spPr>
      </p:pic>
      <p:pic>
        <p:nvPicPr>
          <p:cNvPr id="6" name="Picture 5" descr="v4_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447" y="1481328"/>
            <a:ext cx="1922515" cy="4160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70412" y="5715000"/>
            <a:ext cx="24711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191A2B"/>
                </a:solidFill>
                <a:latin typeface="Calibri"/>
              </a:rPr>
              <a:t>Professional circles + events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6D80"/>
                </a:solidFill>
                <a:latin typeface="Calibri"/>
              </a:rPr>
              <a:t>RSVP events, vote polls, post carpool requests.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50127" y="5715000"/>
            <a:ext cx="24711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191A2B"/>
                </a:solidFill>
                <a:latin typeface="Calibri"/>
              </a:rPr>
              <a:t>Inside a circle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6D80"/>
                </a:solidFill>
                <a:latin typeface="Calibri"/>
              </a:rPr>
              <a:t>Members you chat / call / carpool - events - polls.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B6D80"/>
                </a:solidFill>
                <a:latin typeface="Calibri"/>
              </a:rPr>
              <a:t>Troopool - Case Study  -  Community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1908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B6D80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B4BD6"/>
                </a:solidFill>
                <a:latin typeface="Calibri"/>
              </a:rPr>
              <a:t>WALKTHROUGH - 6 OF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91A2B"/>
                </a:solidFill>
                <a:latin typeface="Calibri"/>
              </a:rPr>
              <a:t>Trust &amp; the B2B story</a:t>
            </a:r>
          </a:p>
        </p:txBody>
      </p:sp>
      <p:pic>
        <p:nvPicPr>
          <p:cNvPr id="5" name="Picture 4" descr="v4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4732" y="1481328"/>
            <a:ext cx="1922515" cy="4160520"/>
          </a:xfrm>
          <a:prstGeom prst="rect">
            <a:avLst/>
          </a:prstGeom>
        </p:spPr>
      </p:pic>
      <p:pic>
        <p:nvPicPr>
          <p:cNvPr id="6" name="Picture 5" descr="v4_hrda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447" y="1481328"/>
            <a:ext cx="1922515" cy="4160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70412" y="5715000"/>
            <a:ext cx="24711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191A2B"/>
                </a:solidFill>
                <a:latin typeface="Calibri"/>
              </a:rPr>
              <a:t>Profile + Trust Score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6D80"/>
                </a:solidFill>
                <a:latin typeface="Calibri"/>
              </a:rPr>
              <a:t>Verification badges, professional interests, connections.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50127" y="5715000"/>
            <a:ext cx="24711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191A2B"/>
                </a:solidFill>
                <a:latin typeface="Calibri"/>
              </a:rPr>
              <a:t>HR / ESG dashboard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6D80"/>
                </a:solidFill>
                <a:latin typeface="Calibri"/>
              </a:rPr>
              <a:t>Adoption - new connections - engagement 8.4/10 - CO2 Scope-3.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B6D80"/>
                </a:solidFill>
                <a:latin typeface="Calibri"/>
              </a:rPr>
              <a:t>Troopool - Case Study  -  Trust &amp; the B2B story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1908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B6D80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6A4D"/>
                </a:solidFill>
                <a:latin typeface="Calibri"/>
              </a:rPr>
              <a:t>USER PERSPECTIVE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91A2B"/>
                </a:solidFill>
                <a:latin typeface="Calibri"/>
              </a:rPr>
              <a:t>The user story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103120"/>
            <a:ext cx="539496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1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2103120"/>
            <a:ext cx="5394960" cy="640080"/>
          </a:xfrm>
          <a:prstGeom prst="roundRect">
            <a:avLst/>
          </a:prstGeom>
          <a:solidFill>
            <a:srgbClr val="5B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/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What the user wants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49377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0" i="0">
                <a:solidFill>
                  <a:srgbClr val="191A2B"/>
                </a:solidFill>
                <a:latin typeface="Calibri"/>
              </a:rPr>
              <a:t>-  See people in my orbit, not a ride search</a:t>
            </a:r>
          </a:p>
          <a:p>
            <a:pPr algn="l">
              <a:spcAft>
                <a:spcPts val="800"/>
              </a:spcAft>
            </a:pPr>
            <a:r>
              <a:rPr sz="1250" b="0" i="0">
                <a:solidFill>
                  <a:srgbClr val="191A2B"/>
                </a:solidFill>
                <a:latin typeface="Calibri"/>
              </a:rPr>
              <a:t>-  Swipe &amp; connect on a mutual like (sRide-style)</a:t>
            </a:r>
          </a:p>
          <a:p>
            <a:pPr algn="l">
              <a:spcAft>
                <a:spcPts val="800"/>
              </a:spcAft>
            </a:pPr>
            <a:r>
              <a:rPr sz="1250" b="0" i="0">
                <a:solidFill>
                  <a:srgbClr val="191A2B"/>
                </a:solidFill>
                <a:latin typeface="Calibri"/>
              </a:rPr>
              <a:t>-  A Trust Score that gets me better matches</a:t>
            </a:r>
          </a:p>
          <a:p>
            <a:pPr algn="l">
              <a:spcAft>
                <a:spcPts val="800"/>
              </a:spcAft>
            </a:pPr>
            <a:r>
              <a:rPr sz="1250" b="0" i="0">
                <a:solidFill>
                  <a:srgbClr val="191A2B"/>
                </a:solidFill>
                <a:latin typeface="Calibri"/>
              </a:rPr>
              <a:t>-  Turn a match into a carpool / coffee / circle</a:t>
            </a:r>
          </a:p>
          <a:p>
            <a:pPr algn="l">
              <a:spcAft>
                <a:spcPts val="800"/>
              </a:spcAft>
            </a:pPr>
            <a:r>
              <a:rPr sz="1250" b="0" i="0">
                <a:solidFill>
                  <a:srgbClr val="191A2B"/>
                </a:solidFill>
                <a:latin typeface="Calibri"/>
              </a:rPr>
              <a:t>-  A ride group where co-passengers all connect</a:t>
            </a:r>
          </a:p>
          <a:p>
            <a:pPr algn="l">
              <a:spcAft>
                <a:spcPts val="800"/>
              </a:spcAft>
            </a:pPr>
            <a:r>
              <a:rPr sz="1250" b="0" i="0">
                <a:solidFill>
                  <a:srgbClr val="191A2B"/>
                </a:solidFill>
                <a:latin typeface="Calibri"/>
              </a:rPr>
              <a:t>-  A reason to open the app daily - no spam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2103120"/>
            <a:ext cx="539496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1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63640" y="2103120"/>
            <a:ext cx="5394960" cy="640080"/>
          </a:xfrm>
          <a:prstGeom prst="roundRect">
            <a:avLst/>
          </a:prstGeom>
          <a:solidFill>
            <a:srgbClr val="10A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/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The journeys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926080"/>
            <a:ext cx="49377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0" i="0">
                <a:solidFill>
                  <a:srgbClr val="191A2B"/>
                </a:solidFill>
                <a:latin typeface="Calibri"/>
              </a:rPr>
              <a:t>-  A - Trust -&gt; swipe -&gt; match -&gt; chat -&gt; carpool -&gt; rate</a:t>
            </a:r>
          </a:p>
          <a:p>
            <a:pPr algn="l">
              <a:spcAft>
                <a:spcPts val="800"/>
              </a:spcAft>
            </a:pPr>
            <a:r>
              <a:rPr sz="1250" b="0" i="0">
                <a:solidFill>
                  <a:srgbClr val="191A2B"/>
                </a:solidFill>
                <a:latin typeface="Calibri"/>
              </a:rPr>
              <a:t>-  B - Join a circle -&gt; RSVP event -&gt; vote poll -&gt; meet circles</a:t>
            </a:r>
          </a:p>
          <a:p>
            <a:pPr algn="l">
              <a:spcAft>
                <a:spcPts val="800"/>
              </a:spcAft>
            </a:pPr>
            <a:r>
              <a:rPr sz="1250" b="0" i="0">
                <a:solidFill>
                  <a:srgbClr val="191A2B"/>
                </a:solidFill>
                <a:latin typeface="Calibri"/>
              </a:rPr>
              <a:t>-  C - Home -&gt; morning route -&gt; matches -&gt; circle updates</a:t>
            </a:r>
          </a:p>
          <a:p>
            <a:pPr algn="l">
              <a:spcAft>
                <a:spcPts val="800"/>
              </a:spcAft>
            </a:pPr>
            <a:r>
              <a:rPr sz="1250" b="0" i="0">
                <a:solidFill>
                  <a:srgbClr val="191A2B"/>
                </a:solidFill>
                <a:latin typeface="Calibri"/>
              </a:rPr>
              <a:t>-  D - HR -&gt; adoption - connections - engagement - CO2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B6D80"/>
                </a:solidFill>
                <a:latin typeface="Calibri"/>
              </a:rPr>
              <a:t>Troopool - Case Study  -  The user story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1908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B6D80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2377440"/>
            <a:ext cx="6400800" cy="6400800"/>
          </a:xfrm>
          <a:prstGeom prst="ellipse">
            <a:avLst/>
          </a:prstGeom>
          <a:solidFill>
            <a:srgbClr val="3A2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 i="0">
                <a:solidFill>
                  <a:srgbClr val="FF6A4D"/>
                </a:solidFill>
                <a:latin typeface="Calibr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Go-to-market, economics &amp;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206240"/>
            <a:ext cx="8778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AAA7BC"/>
                </a:solidFill>
                <a:latin typeface="Calibri"/>
              </a:rPr>
              <a:t>Anchor on corporates in the Maharashtra legal window; the network drives retention carpool can't.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6A4D"/>
                </a:solidFill>
                <a:latin typeface="Calibri"/>
              </a:rPr>
              <a:t>GTM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91A2B"/>
                </a:solidFill>
                <a:latin typeface="Calibri"/>
              </a:rPr>
              <a:t>Cold-start - the B2B anchor (Scoop/Karos playbook)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103120"/>
            <a:ext cx="146304" cy="146304"/>
          </a:xfrm>
          <a:prstGeom prst="roundRect">
            <a:avLst/>
          </a:prstGeom>
          <a:solidFill>
            <a:srgbClr val="5B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93392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91A2B"/>
                </a:solidFill>
                <a:latin typeface="Calibri"/>
              </a:rPr>
              <a:t>Phase 0 - 0-3 mo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B6D80"/>
                </a:solidFill>
                <a:latin typeface="Calibri"/>
              </a:rPr>
              <a:t>5-10 marquee campuses (Bengaluru + Mumbai). Employer subsidises fares; 80% match-rate by week 2; guaranteed-ride-home.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44368"/>
            <a:ext cx="146304" cy="146304"/>
          </a:xfrm>
          <a:prstGeom prst="roundRect">
            <a:avLst/>
          </a:prstGeom>
          <a:solidFill>
            <a:srgbClr val="5B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8346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91A2B"/>
                </a:solidFill>
                <a:latin typeface="Calibri"/>
              </a:rPr>
              <a:t>Phase 1 - 3-6 mo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B6D80"/>
                </a:solidFill>
                <a:latin typeface="Calibri"/>
              </a:rPr>
              <a:t>Swipe network + referrals (k 1.2-1.4). HR champions. 100-200K users.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785615"/>
            <a:ext cx="146304" cy="146304"/>
          </a:xfrm>
          <a:prstGeom prst="roundRect">
            <a:avLst/>
          </a:prstGeom>
          <a:solidFill>
            <a:srgbClr val="5B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675887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91A2B"/>
                </a:solidFill>
                <a:latin typeface="Calibri"/>
              </a:rPr>
              <a:t>Phase 2 - 6-12 mo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B6D80"/>
                </a:solidFill>
                <a:latin typeface="Calibri"/>
              </a:rPr>
              <a:t>Hyderabad + Delhi. Circle events. 200-400K users - Rs 420-500M run-rate.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B6D80"/>
                </a:solidFill>
                <a:latin typeface="Calibri"/>
              </a:rPr>
              <a:t>Troopool - Case Study  -  Cold-start - the B2B anchor (Scoop/Karos playbook)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1908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B6D80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6A4D"/>
                </a:solidFill>
                <a:latin typeface="Calibri"/>
              </a:rPr>
              <a:t>KPIS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91A2B"/>
                </a:solidFill>
                <a:latin typeface="Calibri"/>
              </a:rPr>
              <a:t>Unit economics &amp; KPIs (Year-1 targets)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286000"/>
            <a:ext cx="24917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1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tIns="177800"/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10A88F"/>
                </a:solidFill>
                <a:latin typeface="Calibri"/>
              </a:rPr>
              <a:t>75-80%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6D80"/>
                </a:solidFill>
                <a:latin typeface="Calibri"/>
              </a:rPr>
              <a:t>ride match rate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23260" y="2286000"/>
            <a:ext cx="24917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1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tIns="177800"/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5B4BD6"/>
                </a:solidFill>
                <a:latin typeface="Calibri"/>
              </a:rPr>
              <a:t>40-45%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6D80"/>
                </a:solidFill>
                <a:latin typeface="Calibri"/>
              </a:rPr>
              <a:t>D30 retention (network-boosted)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2286000"/>
            <a:ext cx="24917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1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tIns="177800"/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FF6A4D"/>
                </a:solidFill>
                <a:latin typeface="Calibri"/>
              </a:rPr>
              <a:t>3:1 - 5:1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6D80"/>
                </a:solidFill>
                <a:latin typeface="Calibri"/>
              </a:rPr>
              <a:t>LTV : CAC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63940" y="2286000"/>
            <a:ext cx="24917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1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tIns="177800"/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10A88F"/>
                </a:solidFill>
                <a:latin typeface="Calibri"/>
              </a:rPr>
              <a:t>70-80%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6D80"/>
                </a:solidFill>
                <a:latin typeface="Calibri"/>
              </a:rPr>
              <a:t>B2B SaaS gross margin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5778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1">
                <a:solidFill>
                  <a:srgbClr val="6B6D80"/>
                </a:solidFill>
                <a:latin typeface="Calibri"/>
              </a:rPr>
              <a:t>Benchmarks vs BlaBlaCar Daily, NFX cold-start, SaaS standards. [C]/[E]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B6D80"/>
                </a:solidFill>
                <a:latin typeface="Calibri"/>
              </a:rPr>
              <a:t>Troopool - Case Study  -  Unit economics &amp; KPIs (Year-1 targets)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1908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B6D80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6A4D"/>
                </a:solidFill>
                <a:latin typeface="Calibri"/>
              </a:rPr>
              <a:t>FINANCIALS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91A2B"/>
                </a:solidFill>
                <a:latin typeface="Calibri"/>
              </a:rPr>
              <a:t>3-year financial outline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828800"/>
          <a:ext cx="11155680" cy="2139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926080"/>
              </a:tblGrid>
              <a:tr h="427939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>
                    <a:solidFill>
                      <a:srgbClr val="5B4B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Year 1</a:t>
                      </a:r>
                    </a:p>
                  </a:txBody>
                  <a:tcPr anchor="ctr">
                    <a:solidFill>
                      <a:srgbClr val="5B4B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Year 2</a:t>
                      </a:r>
                    </a:p>
                  </a:txBody>
                  <a:tcPr anchor="ctr">
                    <a:solidFill>
                      <a:srgbClr val="5B4B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Year 3</a:t>
                      </a:r>
                    </a:p>
                  </a:txBody>
                  <a:tcPr anchor="ctr">
                    <a:solidFill>
                      <a:srgbClr val="5B4BD6"/>
                    </a:solidFill>
                  </a:tcPr>
                </a:tc>
              </a:tr>
              <a:tr h="427939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91A2B"/>
                          </a:solidFill>
                          <a:latin typeface="Calibri"/>
                        </a:rPr>
                        <a:t>Cities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6B6D8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6B6D80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6B6D80"/>
                          </a:solidFill>
                          <a:latin typeface="Calibri"/>
                        </a:rPr>
                        <a:t>12-15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7939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91A2B"/>
                          </a:solidFill>
                          <a:latin typeface="Calibri"/>
                        </a:rPr>
                        <a:t>MAU</a:t>
                      </a:r>
                    </a:p>
                  </a:txBody>
                  <a:tcPr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6B6D80"/>
                          </a:solidFill>
                          <a:latin typeface="Calibri"/>
                        </a:rPr>
                        <a:t>0.2-0.4M</a:t>
                      </a:r>
                    </a:p>
                  </a:txBody>
                  <a:tcPr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6B6D80"/>
                          </a:solidFill>
                          <a:latin typeface="Calibri"/>
                        </a:rPr>
                        <a:t>1-1.5M</a:t>
                      </a:r>
                    </a:p>
                  </a:txBody>
                  <a:tcPr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6B6D80"/>
                          </a:solidFill>
                          <a:latin typeface="Calibri"/>
                        </a:rPr>
                        <a:t>3-5M</a:t>
                      </a:r>
                    </a:p>
                  </a:txBody>
                  <a:tcPr anchor="ctr">
                    <a:solidFill>
                      <a:srgbClr val="F6F3EC"/>
                    </a:solidFill>
                  </a:tcPr>
                </a:tc>
              </a:tr>
              <a:tr h="427939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91A2B"/>
                          </a:solidFill>
                          <a:latin typeface="Calibri"/>
                        </a:rPr>
                        <a:t>B2B clients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6B6D80"/>
                          </a:solidFill>
                          <a:latin typeface="Calibri"/>
                        </a:rPr>
                        <a:t>50-100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6B6D80"/>
                          </a:solidFill>
                          <a:latin typeface="Calibri"/>
                        </a:rPr>
                        <a:t>200-400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6B6D80"/>
                          </a:solidFill>
                          <a:latin typeface="Calibri"/>
                        </a:rPr>
                        <a:t>800-1,200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794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91A2B"/>
                          </a:solidFill>
                          <a:latin typeface="Calibri"/>
                        </a:rPr>
                        <a:t>ARR</a:t>
                      </a:r>
                    </a:p>
                  </a:txBody>
                  <a:tcPr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6B6D80"/>
                          </a:solidFill>
                          <a:latin typeface="Calibri"/>
                        </a:rPr>
                        <a:t>Rs 420-500M</a:t>
                      </a:r>
                    </a:p>
                  </a:txBody>
                  <a:tcPr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6B6D80"/>
                          </a:solidFill>
                          <a:latin typeface="Calibri"/>
                        </a:rPr>
                        <a:t>Rs 2.5-3.5B</a:t>
                      </a:r>
                    </a:p>
                  </a:txBody>
                  <a:tcPr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6B6D80"/>
                          </a:solidFill>
                          <a:latin typeface="Calibri"/>
                        </a:rPr>
                        <a:t>Rs 8-10B</a:t>
                      </a:r>
                    </a:p>
                  </a:txBody>
                  <a:tcPr anchor="ctr">
                    <a:solidFill>
                      <a:srgbClr val="F6F3E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B6D80"/>
                </a:solidFill>
                <a:latin typeface="Calibri"/>
              </a:rPr>
              <a:t>Troopool - Case Study  -  3-year financial outline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1908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B6D80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6A4D"/>
                </a:solidFill>
                <a:latin typeface="Calibri"/>
              </a:rPr>
              <a:t>RISK REGISTER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91A2B"/>
                </a:solidFill>
                <a:latin typeface="Calibri"/>
              </a:rPr>
              <a:t>Risks &amp; mitigation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103120"/>
            <a:ext cx="146304" cy="146304"/>
          </a:xfrm>
          <a:prstGeom prst="roundRect">
            <a:avLst/>
          </a:prstGeom>
          <a:solidFill>
            <a:srgbClr val="5B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93392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91A2B"/>
                </a:solidFill>
                <a:latin typeface="Calibri"/>
              </a:rPr>
              <a:t>Regulation (top risk)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B6D80"/>
                </a:solidFill>
                <a:latin typeface="Calibri"/>
              </a:rPr>
              <a:t>Launch Maharashtra (legal Apr 2025); corporate-transport framing; Delhi deferred.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44368"/>
            <a:ext cx="146304" cy="146304"/>
          </a:xfrm>
          <a:prstGeom prst="roundRect">
            <a:avLst/>
          </a:prstGeom>
          <a:solidFill>
            <a:srgbClr val="5B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8346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91A2B"/>
                </a:solidFill>
                <a:latin typeface="Calibri"/>
              </a:rPr>
              <a:t>Safety / women-safety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B6D80"/>
                </a:solidFill>
                <a:latin typeface="Calibri"/>
              </a:rPr>
              <a:t>Trust Score + KYC, women-only mode, SOS, live tracking, 2-way ratings.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785615"/>
            <a:ext cx="146304" cy="146304"/>
          </a:xfrm>
          <a:prstGeom prst="roundRect">
            <a:avLst/>
          </a:prstGeom>
          <a:solidFill>
            <a:srgbClr val="5B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675887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91A2B"/>
                </a:solidFill>
                <a:latin typeface="Calibri"/>
              </a:rPr>
              <a:t>Cold-start liquidity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B6D80"/>
                </a:solidFill>
                <a:latin typeface="Calibri"/>
              </a:rPr>
              <a:t>B2B anchor; subsidised drivers M1-3; guaranteed-ride-home; 80% match-rate.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626864"/>
            <a:ext cx="146304" cy="146304"/>
          </a:xfrm>
          <a:prstGeom prst="roundRect">
            <a:avLst/>
          </a:prstGeom>
          <a:solidFill>
            <a:srgbClr val="5B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517136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91A2B"/>
                </a:solidFill>
                <a:latin typeface="Calibri"/>
              </a:rPr>
              <a:t>Single-mode fragility (Scoop's lesson)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B6D80"/>
                </a:solidFill>
                <a:latin typeface="Calibri"/>
              </a:rPr>
              <a:t>Network + community + multi-modal so value survives when carpool dips.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B6D80"/>
                </a:solidFill>
                <a:latin typeface="Calibri"/>
              </a:rPr>
              <a:t>Troopool - Case Study  -  Risks &amp; mitigation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1908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B6D80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914400" y="-914400"/>
            <a:ext cx="13716000" cy="8686800"/>
          </a:xfrm>
          <a:prstGeom prst="rect">
            <a:avLst/>
          </a:prstGeom>
          <a:solidFill>
            <a:srgbClr val="3A2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863840" y="2926080"/>
            <a:ext cx="6400800" cy="6400800"/>
          </a:xfrm>
          <a:prstGeom prst="ellipse">
            <a:avLst/>
          </a:prstGeom>
          <a:solidFill>
            <a:srgbClr val="5B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37744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People first. Rides second.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CBF24E"/>
                </a:solidFill>
                <a:latin typeface="Calibri"/>
              </a:rPr>
              <a:t>The network is the product.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CFCBDD"/>
                </a:solidFill>
                <a:latin typeface="Calibri"/>
              </a:rPr>
              <a:t>Verified real-orbit + swipe-to-match + B2B/ESG distribution - the engagement engine carpool apps can't build.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852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BF24E"/>
                </a:solidFill>
                <a:latin typeface="Calibri"/>
              </a:rPr>
              <a:t>Troopool - meet the people on your way.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